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3F17C-11A3-4FD5-BA55-FEAA6939B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80E835-9B1A-46A5-9162-D0155A104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A4D59-5F8B-4DA4-BD35-72B37CD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397BD-3BA6-4812-A516-018CBF12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1E0B1-0530-4AD3-8F6B-9C5F24A8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09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94A00-93F1-43DC-82E3-F073EAE1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994061-FD77-4386-A488-89C4EE0BF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42F2A4-F2A7-46E4-A87B-ABAA56EE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134EC-1764-4EE5-9813-2A7226F4B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8DB63B-9060-45BF-AA42-8F1F4444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349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D2026-BDED-47CF-AE58-61F34AD8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24DEEA-DC64-4C94-852D-8F2680072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67FA79-522D-4D0E-9C2E-8240E343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C0F096-EB25-45E6-95A6-C7F3C254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463B50-1144-4D2D-BC0E-52F82F72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41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25075-0286-48F2-9A6E-F6656B71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7A749-0327-4F45-9278-CF2B652A5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C3EE88-7B03-4D88-85C2-F83C7CAF6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15ADB8-BF8F-4A13-950E-B909CA16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BE0A8C-45FB-43D6-B200-82F41E1B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0E73C0-0DEA-4D6F-9DE9-96F9400D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58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071CC-FB24-4E2F-AF66-20C1A56D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FD8A9B-6454-4B21-8FC3-544992FC4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B0D9DE-26C7-4910-981F-E2A2269AC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176D47-82E7-4617-A3B0-326EF3A86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136A40-AFFD-4C01-B955-95CD3A05F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0551B7-CF3C-4F85-AFEE-784E4CEA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02014D-1FA3-49B1-9411-C9A1FD1D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B04DA6-4448-4BC5-A214-5B1BACE4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17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CA4E5-316B-4673-89EE-B4A9E8A3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3F34BE-0936-482E-850A-296FB47A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71FC2E-AD55-469D-B1C5-276C3BA2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7BE90-A0C5-4C37-93B3-03C58D27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61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067C90-0DE7-45C1-B61D-1CAE9992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10981B-1213-4924-AB20-C0E3F0A8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B973B-AD3F-44E3-9514-1A324E9A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32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9EF06-8FC8-497D-B41C-D9EF4039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52AB5A-FBF4-49F3-A5AC-406B1668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197873-B264-49FD-BDE3-92D281F4B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911823-3208-47A7-B651-4BD7F70A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DF299-048E-4DAF-B036-DD94EF2F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366973-5AFD-4570-A99D-23DA8ABC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4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48DE1-DCD7-4D5E-BA53-477A2230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1F5DA3-A5C6-4AB1-A081-D76F52B85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4210C-4A71-4514-A7B2-CADEDD467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99AC1D-BF79-4601-83C5-4691E298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D4825B-7068-4D27-9B3D-5FDBB7C7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FC23E-74E2-4A59-B6FB-19602344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12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2E35D-F825-45A5-A94F-F01A38FD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922C9E-88D3-4592-9513-724C3542C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A68D0-E409-4448-B7B8-897A769F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EABAB7-5A4F-48CE-9D75-3B0286CB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1551EC-E9F8-4A1A-812B-1E79CD90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25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0A67-8831-4067-AC21-038298D38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BB91EA-610D-4498-B68C-C7FE402C1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7EE236-9A9A-4927-B178-7739FEB3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C8964-1485-44C6-AC98-D1C75486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D1C60-84CF-4017-A7FA-6B9A13A3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79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8FA612-9A18-4998-8120-A0376E66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4482EE-CC78-49BA-AEC1-913A259ED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539CB-F213-4509-86BC-854C8EF40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69ADE-82E2-41F2-AC0C-86CB43ED9E6C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873AA4-B6F8-4A49-8400-A8D0105BC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13412-74C9-4085-9D15-8BDF73B3F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36CD-6739-4275-9B32-A959B88BE9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36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70DE2-8D80-429F-993A-5B198C312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03120"/>
            <a:ext cx="10360152" cy="1463040"/>
          </a:xfrm>
        </p:spPr>
        <p:txBody>
          <a:bodyPr>
            <a:normAutofit/>
          </a:bodyPr>
          <a:lstStyle/>
          <a:p>
            <a:r>
              <a:rPr lang="en-US" altLang="ko-KR" sz="4400" b="1"/>
              <a:t>WP5 </a:t>
            </a:r>
            <a:r>
              <a:rPr lang="ko-KR" altLang="en-US" sz="4400" b="1"/>
              <a:t>검사셀 디지털 트윈 모사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0933B3-FC68-4E0F-ACDF-426808C73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749040"/>
            <a:ext cx="10360152" cy="1188720"/>
          </a:xfrm>
        </p:spPr>
        <p:txBody>
          <a:bodyPr/>
          <a:lstStyle/>
          <a:p>
            <a:r>
              <a:rPr lang="ko-KR" altLang="en-US"/>
              <a:t>전체 구성과 흐름 정리</a:t>
            </a:r>
          </a:p>
          <a:p>
            <a:r>
              <a:rPr lang="ko-KR" altLang="en-US" sz="1800"/>
              <a:t>파이썬 서버 </a:t>
            </a:r>
            <a:r>
              <a:rPr lang="en-US" altLang="ko-KR" sz="1800"/>
              <a:t>+ </a:t>
            </a:r>
            <a:r>
              <a:rPr lang="ko-KR" altLang="en-US" sz="1800"/>
              <a:t>원본 화면 코드 </a:t>
            </a:r>
            <a:r>
              <a:rPr lang="en-US" altLang="ko-KR" sz="1800"/>
              <a:t>· </a:t>
            </a:r>
            <a:r>
              <a:rPr lang="ko-KR" altLang="en-US" sz="1800"/>
              <a:t>커밋 </a:t>
            </a:r>
            <a:r>
              <a:rPr lang="en-US" altLang="ko-KR" sz="1800"/>
              <a:t>14</a:t>
            </a:r>
            <a:r>
              <a:rPr lang="ko-KR" altLang="en-US" sz="1800"/>
              <a:t>개 기준 </a:t>
            </a:r>
            <a:r>
              <a:rPr lang="en-US" altLang="ko-KR" sz="1800"/>
              <a:t>(2026-10-22)</a:t>
            </a:r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71905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36F2A-79D2-4281-94D5-C10FC13E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929BAF-AD27-46DD-A9A0-10E2863B2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6035040" cy="475488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ko-KR" altLang="en-US" sz="2000"/>
              <a:t>목표</a:t>
            </a:r>
            <a:r>
              <a:rPr lang="en-US" altLang="ko-KR" sz="2000"/>
              <a:t>: </a:t>
            </a:r>
            <a:r>
              <a:rPr lang="ko-KR" altLang="en-US" sz="2000"/>
              <a:t>원본 디지털 트윈</a:t>
            </a:r>
            <a:r>
              <a:rPr lang="en-US" altLang="ko-KR" sz="2000"/>
              <a:t>(HTML 1</a:t>
            </a:r>
            <a:r>
              <a:rPr lang="ko-KR" altLang="en-US" sz="2000"/>
              <a:t>장</a:t>
            </a:r>
            <a:r>
              <a:rPr lang="en-US" altLang="ko-KR" sz="2000"/>
              <a:t>)</a:t>
            </a:r>
            <a:r>
              <a:rPr lang="ko-KR" altLang="en-US" sz="2000"/>
              <a:t>을 파이썬으로 구현해 똑같이 모사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방식</a:t>
            </a:r>
            <a:r>
              <a:rPr lang="en-US" altLang="ko-KR" sz="2000"/>
              <a:t>: </a:t>
            </a:r>
            <a:r>
              <a:rPr lang="ko-KR" altLang="en-US" sz="2000"/>
              <a:t>계산은 파이썬</a:t>
            </a:r>
            <a:r>
              <a:rPr lang="en-US" altLang="ko-KR" sz="2000"/>
              <a:t>, </a:t>
            </a:r>
            <a:r>
              <a:rPr lang="ko-KR" altLang="en-US" sz="2000"/>
              <a:t>화면은 </a:t>
            </a:r>
            <a:r>
              <a:rPr lang="en-US" altLang="ko-KR" sz="2000"/>
              <a:t>JS</a:t>
            </a:r>
            <a:r>
              <a:rPr lang="ko-KR" altLang="en-US" sz="2000"/>
              <a:t>로 분리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검사 대상</a:t>
            </a:r>
            <a:r>
              <a:rPr lang="en-US" altLang="ko-KR" sz="2000"/>
              <a:t>: </a:t>
            </a:r>
            <a:r>
              <a:rPr lang="ko-KR" altLang="en-US" sz="2000"/>
              <a:t>용접 시편 </a:t>
            </a:r>
            <a:r>
              <a:rPr lang="en-US" altLang="ko-KR" sz="2000"/>
              <a:t>A·B·C, </a:t>
            </a:r>
            <a:r>
              <a:rPr lang="ko-KR" altLang="en-US" sz="2000"/>
              <a:t>시나리오 </a:t>
            </a:r>
            <a:r>
              <a:rPr lang="en-US" altLang="ko-KR" sz="2000"/>
              <a:t>3</a:t>
            </a:r>
            <a:r>
              <a:rPr lang="ko-KR" altLang="en-US" sz="2000"/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흐름</a:t>
            </a:r>
            <a:r>
              <a:rPr lang="en-US" altLang="ko-KR" sz="2000"/>
              <a:t>: AMR 2</a:t>
            </a:r>
            <a:r>
              <a:rPr lang="ko-KR" altLang="en-US" sz="2000"/>
              <a:t>대가 </a:t>
            </a:r>
            <a:r>
              <a:rPr lang="en-US" altLang="ko-KR" sz="2000"/>
              <a:t>3D </a:t>
            </a:r>
            <a:r>
              <a:rPr lang="ko-KR" altLang="en-US" sz="2000"/>
              <a:t>스캔 → 자율 분석 → </a:t>
            </a:r>
            <a:r>
              <a:rPr lang="en-US" altLang="ko-KR" sz="2000"/>
              <a:t>2D </a:t>
            </a:r>
            <a:r>
              <a:rPr lang="ko-KR" altLang="en-US" sz="2000"/>
              <a:t>비전 → 초음파 → </a:t>
            </a:r>
            <a:r>
              <a:rPr lang="en-US" altLang="ko-KR" sz="2000"/>
              <a:t>QC → </a:t>
            </a:r>
            <a:r>
              <a:rPr lang="ko-KR" altLang="en-US" sz="2000"/>
              <a:t>적재</a:t>
            </a:r>
            <a:r>
              <a:rPr lang="en-US" altLang="ko-KR" sz="2000"/>
              <a:t>/</a:t>
            </a:r>
            <a:r>
              <a:rPr lang="ko-KR" altLang="en-US" sz="2000"/>
              <a:t>반품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값은 모두 가상 데이터 </a:t>
            </a:r>
            <a:r>
              <a:rPr lang="en-US" altLang="ko-KR" sz="2000"/>
              <a:t>(</a:t>
            </a:r>
            <a:r>
              <a:rPr lang="ko-KR" altLang="en-US" sz="2000"/>
              <a:t>센서 연동은 보류</a:t>
            </a:r>
            <a:r>
              <a:rPr lang="en-US" altLang="ko-KR" sz="2000"/>
              <a:t>)</a:t>
            </a:r>
            <a:endParaRPr lang="ko-KR" altLang="en-US" sz="200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B676A1-8960-47D7-984B-1B16CAF6F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669925"/>
              </p:ext>
            </p:extLst>
          </p:nvPr>
        </p:nvGraphicFramePr>
        <p:xfrm>
          <a:off x="6858000" y="1554480"/>
          <a:ext cx="47548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98122078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317085828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구분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내용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3633887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서버 모드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파이썬 서버 </a:t>
                      </a:r>
                      <a:r>
                        <a:rPr lang="en-US" altLang="ko-KR" sz="1500"/>
                        <a:t>+ </a:t>
                      </a:r>
                      <a:r>
                        <a:rPr lang="ko-KR" altLang="en-US" sz="1500"/>
                        <a:t>브라우저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67517973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단일 </a:t>
                      </a:r>
                      <a:r>
                        <a:rPr lang="en-US" altLang="ko-KR" sz="1500"/>
                        <a:t>HTML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더블클릭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서버</a:t>
                      </a:r>
                      <a:r>
                        <a:rPr lang="en-US" altLang="ko-KR" sz="1500"/>
                        <a:t>·</a:t>
                      </a:r>
                      <a:r>
                        <a:rPr lang="ko-KR" altLang="en-US" sz="1500"/>
                        <a:t>인터넷 불필요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43771627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화면 </a:t>
                      </a:r>
                      <a:r>
                        <a:rPr lang="en-US" altLang="ko-KR" sz="1500"/>
                        <a:t>v1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직접 작성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37828391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화면 </a:t>
                      </a:r>
                      <a:r>
                        <a:rPr lang="en-US" altLang="ko-KR" sz="1500"/>
                        <a:t>v2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원본 화면 코드 사용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0431992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배포 크기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HTML 1</a:t>
                      </a:r>
                      <a:r>
                        <a:rPr lang="ko-KR" altLang="en-US" sz="1500"/>
                        <a:t>개 약 </a:t>
                      </a:r>
                      <a:r>
                        <a:rPr lang="en-US" altLang="ko-KR" sz="1500"/>
                        <a:t>1.9 MB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51810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67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365A5-FFE3-4657-B04E-D1AA83CF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전체 흐름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2FC09A-D4B3-43F3-8D75-DC4535372021}"/>
              </a:ext>
            </a:extLst>
          </p:cNvPr>
          <p:cNvSpPr/>
          <p:nvPr/>
        </p:nvSpPr>
        <p:spPr>
          <a:xfrm>
            <a:off x="548640" y="1645920"/>
            <a:ext cx="18288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ko-KR" altLang="en-US" sz="1600" b="1"/>
              <a:t>원본 </a:t>
            </a:r>
            <a:r>
              <a:rPr lang="en-US" altLang="ko-KR" sz="1600" b="1"/>
              <a:t>HTML</a:t>
            </a:r>
          </a:p>
          <a:p>
            <a:pPr algn="ctr"/>
            <a:r>
              <a:rPr lang="en-US" altLang="ko-KR" sz="1300"/>
              <a:t>WP5_InspectionDT</a:t>
            </a:r>
          </a:p>
          <a:p>
            <a:pPr algn="ctr"/>
            <a:r>
              <a:rPr lang="en-US" altLang="ko-KR" sz="1300"/>
              <a:t>.html</a:t>
            </a:r>
            <a:endParaRPr lang="ko-KR" altLang="en-US" sz="13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B9CBF94-9E45-403A-9B10-21534A84E20C}"/>
              </a:ext>
            </a:extLst>
          </p:cNvPr>
          <p:cNvSpPr/>
          <p:nvPr/>
        </p:nvSpPr>
        <p:spPr>
          <a:xfrm>
            <a:off x="2862072" y="1645920"/>
            <a:ext cx="18288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ko-KR" altLang="en-US" sz="1600" b="1"/>
              <a:t>계산</a:t>
            </a:r>
          </a:p>
          <a:p>
            <a:pPr algn="ctr"/>
            <a:r>
              <a:rPr lang="en-US" altLang="ko-KR" sz="1300"/>
              <a:t>server/sim/</a:t>
            </a:r>
          </a:p>
          <a:p>
            <a:pPr algn="ctr"/>
            <a:r>
              <a:rPr lang="en-US" altLang="ko-KR" sz="1300"/>
              <a:t>codes.json</a:t>
            </a:r>
            <a:endParaRPr lang="ko-KR" altLang="en-US" sz="13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BEF4BF0-486C-4719-A1D8-D6CBABD33A99}"/>
              </a:ext>
            </a:extLst>
          </p:cNvPr>
          <p:cNvSpPr/>
          <p:nvPr/>
        </p:nvSpPr>
        <p:spPr>
          <a:xfrm>
            <a:off x="5175504" y="1645920"/>
            <a:ext cx="18288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ko-KR" altLang="en-US" sz="1600" b="1"/>
              <a:t>데이터 조립</a:t>
            </a:r>
          </a:p>
          <a:p>
            <a:pPr algn="ctr"/>
            <a:r>
              <a:rPr lang="en-US" altLang="ko-KR" sz="1300"/>
              <a:t>payloads.py</a:t>
            </a:r>
            <a:endParaRPr lang="ko-KR" altLang="en-US" sz="13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21A442-1E0A-4B3E-8421-27165B81458E}"/>
              </a:ext>
            </a:extLst>
          </p:cNvPr>
          <p:cNvSpPr/>
          <p:nvPr/>
        </p:nvSpPr>
        <p:spPr>
          <a:xfrm>
            <a:off x="7488936" y="1645920"/>
            <a:ext cx="18288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ko-KR" altLang="en-US" sz="1600" b="1"/>
              <a:t>전달 </a:t>
            </a:r>
            <a:r>
              <a:rPr lang="en-US" altLang="ko-KR" sz="1600" b="1"/>
              <a:t>(</a:t>
            </a:r>
            <a:r>
              <a:rPr lang="ko-KR" altLang="en-US" sz="1600" b="1"/>
              <a:t>두 경로</a:t>
            </a:r>
            <a:r>
              <a:rPr lang="en-US" altLang="ko-KR" sz="1600" b="1"/>
              <a:t>)</a:t>
            </a:r>
          </a:p>
          <a:p>
            <a:pPr algn="ctr"/>
            <a:r>
              <a:rPr lang="en-US" altLang="ko-KR" sz="1300"/>
              <a:t>main.py (API)</a:t>
            </a:r>
          </a:p>
          <a:p>
            <a:pPr algn="ctr"/>
            <a:r>
              <a:rPr lang="en-US" altLang="ko-KR" sz="1300"/>
              <a:t>export_html.py</a:t>
            </a:r>
            <a:endParaRPr lang="ko-KR" altLang="en-US" sz="13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1FD3A4-2337-4DD3-BEE8-5BEF9CDC4CB8}"/>
              </a:ext>
            </a:extLst>
          </p:cNvPr>
          <p:cNvSpPr/>
          <p:nvPr/>
        </p:nvSpPr>
        <p:spPr>
          <a:xfrm>
            <a:off x="9802368" y="1645920"/>
            <a:ext cx="18288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ko-KR" altLang="en-US" sz="1600" b="1"/>
              <a:t>화면</a:t>
            </a:r>
          </a:p>
          <a:p>
            <a:pPr algn="ctr"/>
            <a:r>
              <a:rPr lang="en-US" altLang="ko-KR" sz="1300"/>
              <a:t>v1 web/</a:t>
            </a:r>
          </a:p>
          <a:p>
            <a:pPr algn="ctr"/>
            <a:r>
              <a:rPr lang="en-US" altLang="ko-KR" sz="1300"/>
              <a:t>v2 web2/</a:t>
            </a:r>
            <a:endParaRPr lang="ko-KR" altLang="en-US" sz="130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CD63568A-5867-4A51-83A9-C879EC8FC712}"/>
              </a:ext>
            </a:extLst>
          </p:cNvPr>
          <p:cNvSpPr/>
          <p:nvPr/>
        </p:nvSpPr>
        <p:spPr>
          <a:xfrm>
            <a:off x="2432304" y="2130552"/>
            <a:ext cx="374904" cy="402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A20F6BB-BA59-4243-B70F-B7C5BF494F5F}"/>
              </a:ext>
            </a:extLst>
          </p:cNvPr>
          <p:cNvSpPr/>
          <p:nvPr/>
        </p:nvSpPr>
        <p:spPr>
          <a:xfrm>
            <a:off x="4745736" y="2130552"/>
            <a:ext cx="374904" cy="402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0B0256B7-D46F-4146-B7A1-41BC7E8D6467}"/>
              </a:ext>
            </a:extLst>
          </p:cNvPr>
          <p:cNvSpPr/>
          <p:nvPr/>
        </p:nvSpPr>
        <p:spPr>
          <a:xfrm>
            <a:off x="7059168" y="2130552"/>
            <a:ext cx="374905" cy="402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896CA82-6310-47D7-A6AB-4278F7298ABF}"/>
              </a:ext>
            </a:extLst>
          </p:cNvPr>
          <p:cNvSpPr/>
          <p:nvPr/>
        </p:nvSpPr>
        <p:spPr>
          <a:xfrm>
            <a:off x="9372600" y="2130552"/>
            <a:ext cx="374904" cy="402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1B367-B7FE-45F6-B3F1-A87BCF314429}"/>
              </a:ext>
            </a:extLst>
          </p:cNvPr>
          <p:cNvSpPr txBox="1"/>
          <p:nvPr/>
        </p:nvSpPr>
        <p:spPr>
          <a:xfrm>
            <a:off x="548640" y="3383280"/>
            <a:ext cx="539496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600" b="1"/>
              <a:t>서버 모드</a:t>
            </a:r>
          </a:p>
          <a:p>
            <a:pPr>
              <a:spcAft>
                <a:spcPts val="400"/>
              </a:spcAft>
            </a:pPr>
            <a:r>
              <a:rPr lang="ko-KR" altLang="en-US" sz="1600"/>
              <a:t>브라우저가 </a:t>
            </a:r>
            <a:r>
              <a:rPr lang="en-US" altLang="ko-KR" sz="1600"/>
              <a:t>/api/... </a:t>
            </a:r>
            <a:r>
              <a:rPr lang="ko-KR" altLang="en-US" sz="1600"/>
              <a:t>로 데이터를 받아 그림</a:t>
            </a:r>
          </a:p>
          <a:p>
            <a:pPr>
              <a:spcAft>
                <a:spcPts val="400"/>
              </a:spcAft>
            </a:pPr>
            <a:r>
              <a:rPr lang="ko-KR" altLang="en-US" sz="1600"/>
              <a:t>센서 값 연동은 이 경로에서 가능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57155-7067-4CD8-901E-C7F54D033DF3}"/>
              </a:ext>
            </a:extLst>
          </p:cNvPr>
          <p:cNvSpPr txBox="1"/>
          <p:nvPr/>
        </p:nvSpPr>
        <p:spPr>
          <a:xfrm>
            <a:off x="6245352" y="3383280"/>
            <a:ext cx="539496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600" b="1"/>
              <a:t>단일 </a:t>
            </a:r>
            <a:r>
              <a:rPr lang="en-US" altLang="ko-KR" sz="1600" b="1"/>
              <a:t>HTML</a:t>
            </a:r>
          </a:p>
          <a:p>
            <a:pPr>
              <a:spcAft>
                <a:spcPts val="400"/>
              </a:spcAft>
            </a:pPr>
            <a:r>
              <a:rPr lang="ko-KR" altLang="en-US" sz="1600"/>
              <a:t>데이터</a:t>
            </a:r>
            <a:r>
              <a:rPr lang="en-US" altLang="ko-KR" sz="1600"/>
              <a:t>·</a:t>
            </a:r>
            <a:r>
              <a:rPr lang="ko-KR" altLang="en-US" sz="1600"/>
              <a:t>화면</a:t>
            </a:r>
            <a:r>
              <a:rPr lang="en-US" altLang="ko-KR" sz="1600"/>
              <a:t>·</a:t>
            </a:r>
            <a:r>
              <a:rPr lang="ko-KR" altLang="en-US" sz="1600"/>
              <a:t>글꼴</a:t>
            </a:r>
            <a:r>
              <a:rPr lang="en-US" altLang="ko-KR" sz="1600"/>
              <a:t>·three.js</a:t>
            </a:r>
            <a:r>
              <a:rPr lang="ko-KR" altLang="en-US" sz="1600"/>
              <a:t>를 파일 하나에 내장</a:t>
            </a:r>
          </a:p>
          <a:p>
            <a:pPr>
              <a:spcAft>
                <a:spcPts val="400"/>
              </a:spcAft>
            </a:pPr>
            <a:r>
              <a:rPr lang="ko-KR" altLang="en-US" sz="1600"/>
              <a:t>서버</a:t>
            </a:r>
            <a:r>
              <a:rPr lang="en-US" altLang="ko-KR" sz="1600"/>
              <a:t>·</a:t>
            </a:r>
            <a:r>
              <a:rPr lang="ko-KR" altLang="en-US" sz="1600"/>
              <a:t>설치</a:t>
            </a:r>
            <a:r>
              <a:rPr lang="en-US" altLang="ko-KR" sz="1600"/>
              <a:t>·</a:t>
            </a:r>
            <a:r>
              <a:rPr lang="ko-KR" altLang="en-US" sz="1600"/>
              <a:t>인터넷 불필요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1973D-860D-4866-91FF-F5921A20EB22}"/>
              </a:ext>
            </a:extLst>
          </p:cNvPr>
          <p:cNvSpPr txBox="1"/>
          <p:nvPr/>
        </p:nvSpPr>
        <p:spPr>
          <a:xfrm>
            <a:off x="548640" y="5120640"/>
            <a:ext cx="11091672" cy="5745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1400"/>
              <a:t>tools/ — </a:t>
            </a:r>
            <a:r>
              <a:rPr lang="ko-KR" altLang="en-US" sz="1400"/>
              <a:t>원본에서 추출</a:t>
            </a:r>
            <a:r>
              <a:rPr lang="en-US" altLang="ko-KR" sz="1400"/>
              <a:t>·</a:t>
            </a:r>
            <a:r>
              <a:rPr lang="ko-KR" altLang="en-US" sz="1400"/>
              <a:t>가져오기 </a:t>
            </a:r>
            <a:r>
              <a:rPr lang="en-US" altLang="ko-KR" sz="1400"/>
              <a:t>(extract_codes, import_original_ui), </a:t>
            </a:r>
            <a:r>
              <a:rPr lang="ko-KR" altLang="en-US" sz="1400"/>
              <a:t>글꼴 줄이기 </a:t>
            </a:r>
            <a:r>
              <a:rPr lang="en-US" altLang="ko-KR" sz="1400"/>
              <a:t>(fonts, subset_font)</a:t>
            </a:r>
          </a:p>
          <a:p>
            <a:pPr>
              <a:spcAft>
                <a:spcPts val="400"/>
              </a:spcAft>
            </a:pPr>
            <a:r>
              <a:rPr lang="ko-KR" altLang="en-US" sz="1400"/>
              <a:t>원본에서 데이터 사전</a:t>
            </a:r>
            <a:r>
              <a:rPr lang="en-US" altLang="ko-KR" sz="1400"/>
              <a:t>·</a:t>
            </a:r>
            <a:r>
              <a:rPr lang="ko-KR" altLang="en-US" sz="1400"/>
              <a:t>화면 코드를 꺼내고</a:t>
            </a:r>
            <a:r>
              <a:rPr lang="en-US" altLang="ko-KR" sz="1400"/>
              <a:t>, </a:t>
            </a:r>
            <a:r>
              <a:rPr lang="ko-KR" altLang="en-US" sz="1400"/>
              <a:t>계산은 파이썬으로 이식</a:t>
            </a:r>
          </a:p>
        </p:txBody>
      </p:sp>
    </p:spTree>
    <p:extLst>
      <p:ext uri="{BB962C8B-B14F-4D97-AF65-F5344CB8AC3E}">
        <p14:creationId xmlns:p14="http://schemas.microsoft.com/office/powerpoint/2010/main" val="79863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4D7FC-88BC-44A3-BB68-A6C67412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진행 단계 </a:t>
            </a:r>
            <a:r>
              <a:rPr lang="en-US" altLang="ko-KR" sz="3200" b="1"/>
              <a:t>(</a:t>
            </a:r>
            <a:r>
              <a:rPr lang="ko-KR" altLang="en-US" sz="3200" b="1"/>
              <a:t>커밋 </a:t>
            </a:r>
            <a:r>
              <a:rPr lang="en-US" altLang="ko-KR" sz="3200" b="1"/>
              <a:t>14</a:t>
            </a:r>
            <a:r>
              <a:rPr lang="ko-KR" altLang="en-US" sz="3200" b="1"/>
              <a:t>개</a:t>
            </a:r>
            <a:r>
              <a:rPr lang="en-US" altLang="ko-KR" sz="3200" b="1"/>
              <a:t>)</a:t>
            </a:r>
            <a:endParaRPr lang="ko-KR" altLang="en-US" sz="3200" b="1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191FA00-5978-4A6A-9952-412D773E8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677117"/>
              </p:ext>
            </p:extLst>
          </p:nvPr>
        </p:nvGraphicFramePr>
        <p:xfrm>
          <a:off x="548640" y="1463040"/>
          <a:ext cx="11091672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45321713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984520140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단계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내용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9644581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1. </a:t>
                      </a:r>
                      <a:r>
                        <a:rPr lang="ko-KR" altLang="en-US" sz="1600"/>
                        <a:t>시작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저장소 생성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라이선스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첫 골격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305973609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2. </a:t>
                      </a:r>
                      <a:r>
                        <a:rPr lang="ko-KR" altLang="en-US" sz="1600"/>
                        <a:t>분석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이식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원본 분석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데이터 사전 추출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시나리오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결함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데이터 흐름을 파이썬으로 이식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71236679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3. v1 </a:t>
                      </a:r>
                      <a:r>
                        <a:rPr lang="ko-KR" altLang="en-US" sz="1600"/>
                        <a:t>화면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탭 </a:t>
                      </a:r>
                      <a:r>
                        <a:rPr lang="en-US" altLang="ko-KR" sz="1600"/>
                        <a:t>9</a:t>
                      </a:r>
                      <a:r>
                        <a:rPr lang="ko-KR" altLang="en-US" sz="1600"/>
                        <a:t>개 직접 작성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로봇 운동학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경로 계획 이식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편차 맵</a:t>
                      </a:r>
                      <a:r>
                        <a:rPr lang="en-US" altLang="ko-KR" sz="1600"/>
                        <a:t>·2D </a:t>
                      </a:r>
                      <a:r>
                        <a:rPr lang="ko-KR" altLang="en-US" sz="1600"/>
                        <a:t>영상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480756488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4. </a:t>
                      </a:r>
                      <a:r>
                        <a:rPr lang="ko-KR" altLang="en-US" sz="1600"/>
                        <a:t>배포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오프라인 </a:t>
                      </a:r>
                      <a:r>
                        <a:rPr lang="en-US" altLang="ko-KR" sz="1600"/>
                        <a:t>three.js, </a:t>
                      </a:r>
                      <a:r>
                        <a:rPr lang="ko-KR" altLang="en-US" sz="1600"/>
                        <a:t>단일 </a:t>
                      </a:r>
                      <a:r>
                        <a:rPr lang="en-US" altLang="ko-KR" sz="1600"/>
                        <a:t>HTML </a:t>
                      </a:r>
                      <a:r>
                        <a:rPr lang="ko-KR" altLang="en-US" sz="1600"/>
                        <a:t>내보내기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글꼴 내장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50014805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5. v2 </a:t>
                      </a:r>
                      <a:r>
                        <a:rPr lang="ko-KR" altLang="en-US" sz="1600"/>
                        <a:t>화면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원본 화면 코드를 가져와 서버 데이터로 구동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원본과 대조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339356508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6. </a:t>
                      </a:r>
                      <a:r>
                        <a:rPr lang="ko-KR" altLang="en-US" sz="1600"/>
                        <a:t>병행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정리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v1·v2 </a:t>
                      </a:r>
                      <a:r>
                        <a:rPr lang="ko-KR" altLang="en-US" sz="1600"/>
                        <a:t>둘 다 유지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각각 내보내기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글꼴 누락 수정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928700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61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52BD4-B1AF-4E39-958E-DEE977ED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구성요소 목록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CBBE14-C941-43EA-BDF1-C3B591290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310143"/>
              </p:ext>
            </p:extLst>
          </p:nvPr>
        </p:nvGraphicFramePr>
        <p:xfrm>
          <a:off x="548640" y="1371600"/>
          <a:ext cx="11091672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5093366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168147123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40392449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134446889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구성요소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위치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역할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상태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13107752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계산 모듈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server/sim/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원본 계산을 파이썬으로 이식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약 </a:t>
                      </a:r>
                      <a:r>
                        <a:rPr lang="en-US" altLang="ko-KR" sz="1300"/>
                        <a:t>1,060</a:t>
                      </a:r>
                      <a:r>
                        <a:rPr lang="ko-KR" altLang="en-US" sz="1300"/>
                        <a:t>줄</a:t>
                      </a:r>
                      <a:r>
                        <a:rPr lang="en-US" altLang="ko-KR" sz="1300"/>
                        <a:t>)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08749469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데이터 사전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server/data/codes.json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계층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공정</a:t>
                      </a:r>
                      <a:r>
                        <a:rPr lang="en-US" altLang="ko-KR" sz="1300"/>
                        <a:t>·D00~D30 (</a:t>
                      </a:r>
                      <a:r>
                        <a:rPr lang="ko-KR" altLang="en-US" sz="1300"/>
                        <a:t>코드 </a:t>
                      </a:r>
                      <a:r>
                        <a:rPr lang="en-US" altLang="ko-KR" sz="1300"/>
                        <a:t>31</a:t>
                      </a:r>
                      <a:r>
                        <a:rPr lang="ko-KR" altLang="en-US" sz="1300"/>
                        <a:t>개</a:t>
                      </a:r>
                      <a:r>
                        <a:rPr lang="en-US" altLang="ko-KR" sz="1300"/>
                        <a:t>)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7161744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데이터 조립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server/payloads.py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화면용 데이터를 한 곳에서 생성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90409818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API </a:t>
                      </a:r>
                      <a:r>
                        <a:rPr lang="ko-KR" altLang="en-US" sz="1300"/>
                        <a:t>서버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server/main.py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/api/..., /v1/, /v2/ </a:t>
                      </a:r>
                      <a:r>
                        <a:rPr lang="ko-KR" altLang="en-US" sz="1300"/>
                        <a:t>제공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41718658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v2 </a:t>
                      </a:r>
                      <a:r>
                        <a:rPr lang="ko-KR" altLang="en-US" sz="1300"/>
                        <a:t>화면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web2/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원본 화면 코드</a:t>
                      </a:r>
                      <a:r>
                        <a:rPr lang="en-US" altLang="ko-KR" sz="1300"/>
                        <a:t>(884</a:t>
                      </a:r>
                      <a:r>
                        <a:rPr lang="ko-KR" altLang="en-US" sz="1300"/>
                        <a:t>줄</a:t>
                      </a:r>
                      <a:r>
                        <a:rPr lang="en-US" altLang="ko-KR" sz="1300"/>
                        <a:t>) + </a:t>
                      </a:r>
                      <a:r>
                        <a:rPr lang="ko-KR" altLang="en-US" sz="1300"/>
                        <a:t>연결부</a:t>
                      </a:r>
                      <a:r>
                        <a:rPr lang="en-US" altLang="ko-KR" sz="1300"/>
                        <a:t>(141</a:t>
                      </a:r>
                      <a:r>
                        <a:rPr lang="ko-KR" altLang="en-US" sz="1300"/>
                        <a:t>줄</a:t>
                      </a:r>
                      <a:r>
                        <a:rPr lang="en-US" altLang="ko-KR" sz="1300"/>
                        <a:t>)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55483183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v1 </a:t>
                      </a:r>
                      <a:r>
                        <a:rPr lang="ko-KR" altLang="en-US" sz="1300"/>
                        <a:t>화면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web/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직접 작성한 화면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약 </a:t>
                      </a:r>
                      <a:r>
                        <a:rPr lang="en-US" altLang="ko-KR" sz="1300"/>
                        <a:t>1,300</a:t>
                      </a:r>
                      <a:r>
                        <a:rPr lang="ko-KR" altLang="en-US" sz="1300"/>
                        <a:t>줄</a:t>
                      </a:r>
                      <a:r>
                        <a:rPr lang="en-US" altLang="ko-KR" sz="1300"/>
                        <a:t>)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46280557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도구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tools/ (5</a:t>
                      </a:r>
                      <a:r>
                        <a:rPr lang="ko-KR" altLang="en-US" sz="1300"/>
                        <a:t>개</a:t>
                      </a:r>
                      <a:r>
                        <a:rPr lang="en-US" altLang="ko-KR" sz="1300"/>
                        <a:t>)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추출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화면 가져오기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내보내기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글꼴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403858254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배포물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export/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단일 </a:t>
                      </a:r>
                      <a:r>
                        <a:rPr lang="en-US" altLang="ko-KR" sz="1300"/>
                        <a:t>HTML 2</a:t>
                      </a:r>
                      <a:r>
                        <a:rPr lang="ko-KR" altLang="en-US" sz="1300"/>
                        <a:t>개 </a:t>
                      </a:r>
                      <a:r>
                        <a:rPr lang="en-US" altLang="ko-KR" sz="1300"/>
                        <a:t>+ </a:t>
                      </a:r>
                      <a:r>
                        <a:rPr lang="ko-KR" altLang="en-US" sz="1300"/>
                        <a:t>바로가기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사용 중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03870116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센서 공급원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server/sources.py, /ws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첫 골격의 실시간 재생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미사용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2970474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첫 골격 잔재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/>
                        <a:t>scenarios/, docking.py, kinematics.py</a:t>
                      </a:r>
                      <a:endParaRPr lang="ko-KR" altLang="en-US" sz="13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초기 예시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/>
                        <a:t>미사용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4037684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49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3A23E-0B7F-4189-9654-BD061DD85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시나리오 하나가 화면에 나오기까지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E1C9596-32D2-4660-8E24-D6C7D8B5FDCA}"/>
              </a:ext>
            </a:extLst>
          </p:cNvPr>
          <p:cNvSpPr/>
          <p:nvPr/>
        </p:nvSpPr>
        <p:spPr>
          <a:xfrm>
            <a:off x="548640" y="1554480"/>
            <a:ext cx="3566160" cy="1920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en-US" altLang="ko-KR" sz="2000" b="1"/>
              <a:t>1  </a:t>
            </a:r>
            <a:r>
              <a:rPr lang="ko-KR" altLang="en-US" sz="2000" b="1"/>
              <a:t>시나리오 생성</a:t>
            </a:r>
          </a:p>
          <a:p>
            <a:pPr algn="ctr"/>
            <a:r>
              <a:rPr lang="en-US" altLang="ko-KR" sz="1500"/>
              <a:t>scen.build("S1")</a:t>
            </a:r>
          </a:p>
          <a:p>
            <a:pPr algn="ctr"/>
            <a:r>
              <a:rPr lang="ko-KR" altLang="en-US" sz="1500"/>
              <a:t>타임라인 </a:t>
            </a:r>
            <a:r>
              <a:rPr lang="en-US" altLang="ko-KR" sz="1500"/>
              <a:t>· AMR 2</a:t>
            </a:r>
            <a:r>
              <a:rPr lang="ko-KR" altLang="en-US" sz="1500"/>
              <a:t>대 </a:t>
            </a:r>
            <a:r>
              <a:rPr lang="en-US" altLang="ko-KR" sz="1500"/>
              <a:t>· </a:t>
            </a:r>
            <a:r>
              <a:rPr lang="ko-KR" altLang="en-US" sz="1500"/>
              <a:t>도킹 오차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A58CC93-6856-4C36-A625-A936E2B44F6A}"/>
              </a:ext>
            </a:extLst>
          </p:cNvPr>
          <p:cNvSpPr/>
          <p:nvPr/>
        </p:nvSpPr>
        <p:spPr>
          <a:xfrm>
            <a:off x="4311396" y="1554480"/>
            <a:ext cx="3566160" cy="1920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en-US" altLang="ko-KR" sz="2000" b="1"/>
              <a:t>2  </a:t>
            </a:r>
            <a:r>
              <a:rPr lang="ko-KR" altLang="en-US" sz="2000" b="1"/>
              <a:t>로봇 경로 계획</a:t>
            </a:r>
          </a:p>
          <a:p>
            <a:pPr algn="ctr"/>
            <a:r>
              <a:rPr lang="en-US" altLang="ko-KR" sz="1500"/>
              <a:t>plan.plan_win()</a:t>
            </a:r>
          </a:p>
          <a:p>
            <a:pPr algn="ctr"/>
            <a:r>
              <a:rPr lang="ko-KR" altLang="en-US" sz="1500"/>
              <a:t>셀마다 역기구학 </a:t>
            </a:r>
            <a:r>
              <a:rPr lang="en-US" altLang="ko-KR" sz="1500"/>
              <a:t>· </a:t>
            </a:r>
            <a:r>
              <a:rPr lang="ko-KR" altLang="en-US" sz="1500"/>
              <a:t>도달 </a:t>
            </a:r>
            <a:r>
              <a:rPr lang="en-US" altLang="ko-KR" sz="1500"/>
              <a:t>· </a:t>
            </a:r>
            <a:r>
              <a:rPr lang="ko-KR" altLang="en-US" sz="1500"/>
              <a:t>충돌 여유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7C46E00-1EC8-4A5C-82A9-406426368B2C}"/>
              </a:ext>
            </a:extLst>
          </p:cNvPr>
          <p:cNvSpPr/>
          <p:nvPr/>
        </p:nvSpPr>
        <p:spPr>
          <a:xfrm>
            <a:off x="8074152" y="1554480"/>
            <a:ext cx="3566160" cy="1920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en-US" altLang="ko-KR" sz="2000" b="1"/>
              <a:t>3  </a:t>
            </a:r>
            <a:r>
              <a:rPr lang="ko-KR" altLang="en-US" sz="2000" b="1"/>
              <a:t>데이터 흐름</a:t>
            </a:r>
          </a:p>
          <a:p>
            <a:pPr algn="ctr"/>
            <a:r>
              <a:rPr lang="en-US" altLang="ko-KR" sz="1500"/>
              <a:t>flows.build()</a:t>
            </a:r>
          </a:p>
          <a:p>
            <a:pPr algn="ctr"/>
            <a:r>
              <a:rPr lang="ko-KR" altLang="en-US" sz="1500"/>
              <a:t>누가 누구에게 어떤 코드를 보냈나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83B519-2B7A-4154-AF3D-C92DB18941EB}"/>
              </a:ext>
            </a:extLst>
          </p:cNvPr>
          <p:cNvSpPr/>
          <p:nvPr/>
        </p:nvSpPr>
        <p:spPr>
          <a:xfrm>
            <a:off x="548640" y="3840480"/>
            <a:ext cx="3566160" cy="1920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en-US" altLang="ko-KR" sz="2000" b="1"/>
              <a:t>4  </a:t>
            </a:r>
            <a:r>
              <a:rPr lang="ko-KR" altLang="en-US" sz="2000" b="1"/>
              <a:t>데이터 조립</a:t>
            </a:r>
          </a:p>
          <a:p>
            <a:pPr algn="ctr"/>
            <a:r>
              <a:rPr lang="en-US" altLang="ko-KR" sz="1500"/>
              <a:t>payloads.scenario()</a:t>
            </a:r>
          </a:p>
          <a:p>
            <a:pPr algn="ctr"/>
            <a:r>
              <a:rPr lang="ko-KR" altLang="en-US" sz="1500"/>
              <a:t>하나의 </a:t>
            </a:r>
            <a:r>
              <a:rPr lang="en-US" altLang="ko-KR" sz="1500"/>
              <a:t>JSON</a:t>
            </a:r>
            <a:r>
              <a:rPr lang="ko-KR" altLang="en-US" sz="1500"/>
              <a:t>으로 합침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A4A1EB-900A-4476-BD91-6439C64906CE}"/>
              </a:ext>
            </a:extLst>
          </p:cNvPr>
          <p:cNvSpPr/>
          <p:nvPr/>
        </p:nvSpPr>
        <p:spPr>
          <a:xfrm>
            <a:off x="4311396" y="3840480"/>
            <a:ext cx="3566160" cy="1920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en-US" altLang="ko-KR" sz="2000" b="1"/>
              <a:t>5  </a:t>
            </a:r>
            <a:r>
              <a:rPr lang="ko-KR" altLang="en-US" sz="2000" b="1"/>
              <a:t>연결 </a:t>
            </a:r>
            <a:r>
              <a:rPr lang="en-US" altLang="ko-KR" sz="2000" b="1"/>
              <a:t>(v2)</a:t>
            </a:r>
          </a:p>
          <a:p>
            <a:pPr algn="ctr"/>
            <a:r>
              <a:rPr lang="en-US" altLang="ko-KR" sz="1500"/>
              <a:t>adapter.js</a:t>
            </a:r>
          </a:p>
          <a:p>
            <a:pPr algn="ctr"/>
            <a:r>
              <a:rPr lang="en-US" altLang="ko-KR" sz="1500"/>
              <a:t>JSON → KIN · GEOM · SCEN · CODES</a:t>
            </a:r>
            <a:endParaRPr lang="ko-KR" altLang="en-US" sz="150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8D106D1-47F0-44E6-8FEC-F56C91EFF77F}"/>
              </a:ext>
            </a:extLst>
          </p:cNvPr>
          <p:cNvSpPr/>
          <p:nvPr/>
        </p:nvSpPr>
        <p:spPr>
          <a:xfrm>
            <a:off x="8074152" y="3840480"/>
            <a:ext cx="3566160" cy="1920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rIns="88900" rtlCol="0" anchor="ctr"/>
          <a:lstStyle/>
          <a:p>
            <a:pPr algn="ctr"/>
            <a:r>
              <a:rPr lang="en-US" altLang="ko-KR" sz="2000" b="1"/>
              <a:t>6  </a:t>
            </a:r>
            <a:r>
              <a:rPr lang="ko-KR" altLang="en-US" sz="2000" b="1"/>
              <a:t>그리기</a:t>
            </a:r>
          </a:p>
          <a:p>
            <a:pPr algn="ctr"/>
            <a:r>
              <a:rPr lang="en-US" altLang="ko-KR" sz="1500"/>
              <a:t>ui.js</a:t>
            </a:r>
          </a:p>
          <a:p>
            <a:pPr algn="ctr"/>
            <a:r>
              <a:rPr lang="ko-KR" altLang="en-US" sz="1500"/>
              <a:t>시각 </a:t>
            </a:r>
            <a:r>
              <a:rPr lang="en-US" altLang="ko-KR" sz="1500"/>
              <a:t>t</a:t>
            </a:r>
            <a:r>
              <a:rPr lang="ko-KR" altLang="en-US" sz="1500"/>
              <a:t>에 따라 탭 </a:t>
            </a:r>
            <a:r>
              <a:rPr lang="en-US" altLang="ko-KR" sz="1500"/>
              <a:t>9</a:t>
            </a:r>
            <a:r>
              <a:rPr lang="ko-KR" altLang="en-US" sz="1500"/>
              <a:t>개 그림</a:t>
            </a:r>
          </a:p>
        </p:txBody>
      </p:sp>
    </p:spTree>
    <p:extLst>
      <p:ext uri="{BB962C8B-B14F-4D97-AF65-F5344CB8AC3E}">
        <p14:creationId xmlns:p14="http://schemas.microsoft.com/office/powerpoint/2010/main" val="3367235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E9A30-C6FB-4518-B8A1-17831E15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Autofit/>
          </a:bodyPr>
          <a:lstStyle/>
          <a:p>
            <a:r>
              <a:rPr lang="ko-KR" altLang="en-US" sz="2800" b="1"/>
              <a:t>계산 모듈 </a:t>
            </a:r>
            <a:r>
              <a:rPr lang="en-US" altLang="ko-KR" sz="2800" b="1"/>
              <a:t>(server/sim) — </a:t>
            </a:r>
            <a:r>
              <a:rPr lang="ko-KR" altLang="en-US" sz="2800" b="1"/>
              <a:t>무엇을 계산하고</a:t>
            </a:r>
            <a:r>
              <a:rPr lang="en-US" altLang="ko-KR" sz="2800" b="1"/>
              <a:t>, </a:t>
            </a:r>
            <a:r>
              <a:rPr lang="ko-KR" altLang="en-US" sz="2800" b="1"/>
              <a:t>어디를 교체하나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95905E6-B6F2-4F91-9F82-4B9A740E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12099"/>
              </p:ext>
            </p:extLst>
          </p:nvPr>
        </p:nvGraphicFramePr>
        <p:xfrm>
          <a:off x="548640" y="1371600"/>
          <a:ext cx="11091672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320063465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9487072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85459045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474187167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파일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줄수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역할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장비로 바꿀 때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41609769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geom.py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79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시편 </a:t>
                      </a:r>
                      <a:r>
                        <a:rPr lang="en-US" altLang="ko-KR" sz="1400"/>
                        <a:t>A/B/C </a:t>
                      </a:r>
                      <a:r>
                        <a:rPr lang="ko-KR" altLang="en-US" sz="1400"/>
                        <a:t>형상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결함</a:t>
                      </a:r>
                      <a:r>
                        <a:rPr lang="en-US" altLang="ko-KR" sz="1400"/>
                        <a:t>, ROI, 2D </a:t>
                      </a:r>
                      <a:r>
                        <a:rPr lang="ko-KR" altLang="en-US" sz="1400"/>
                        <a:t>촬영 지점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</a:t>
                      </a:r>
                      <a:r>
                        <a:rPr lang="en-US" altLang="ko-KR" sz="1400"/>
                        <a:t>3D </a:t>
                      </a:r>
                      <a:r>
                        <a:rPr lang="ko-KR" altLang="en-US" sz="1400"/>
                        <a:t>스캔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비전</a:t>
                      </a:r>
                      <a:r>
                        <a:rPr lang="en-US" altLang="ko-KR" sz="1400"/>
                        <a:t>·PAUT </a:t>
                      </a:r>
                      <a:r>
                        <a:rPr lang="ko-KR" altLang="en-US" sz="1400"/>
                        <a:t>결과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790573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scen.py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328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시나리오 타임라인</a:t>
                      </a:r>
                      <a:r>
                        <a:rPr lang="en-US" altLang="ko-KR" sz="1400"/>
                        <a:t>, AMR 2</a:t>
                      </a:r>
                      <a:r>
                        <a:rPr lang="ko-KR" altLang="en-US" sz="1400"/>
                        <a:t>대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재측정</a:t>
                      </a:r>
                      <a:r>
                        <a:rPr lang="en-US" altLang="ko-KR" sz="1400"/>
                        <a:t>, QC, </a:t>
                      </a:r>
                      <a:r>
                        <a:rPr lang="ko-KR" altLang="en-US" sz="1400"/>
                        <a:t>도킹 오차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AMR </a:t>
                      </a:r>
                      <a:r>
                        <a:rPr lang="ko-KR" altLang="en-US" sz="1400"/>
                        <a:t>관제 </a:t>
                      </a:r>
                      <a:r>
                        <a:rPr lang="en-US" altLang="ko-KR" sz="1400"/>
                        <a:t>· </a:t>
                      </a:r>
                      <a:r>
                        <a:rPr lang="ko-KR" altLang="en-US" sz="1400"/>
                        <a:t>실제 일정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055728698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flows.py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126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계층 간 데이터 흐름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누가 누구에게 어떤 코드</a:t>
                      </a:r>
                      <a:r>
                        <a:rPr lang="en-US" altLang="ko-KR" sz="1400"/>
                        <a:t>)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메시지 로그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62928684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kin.py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349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6</a:t>
                      </a:r>
                      <a:r>
                        <a:rPr lang="ko-KR" altLang="en-US" sz="1400"/>
                        <a:t>축 운동학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도달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충돌 여유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경로 생성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로봇 파라미터</a:t>
                      </a:r>
                      <a:r>
                        <a:rPr lang="en-US" altLang="ko-KR" sz="1400"/>
                        <a:t>(URDF)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41087171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plan.py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105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작업별 경로 계획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관절각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보정 전 오차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로봇 상태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212495877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render.py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72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가상 </a:t>
                      </a:r>
                      <a:r>
                        <a:rPr lang="en-US" altLang="ko-KR" sz="1400"/>
                        <a:t>3D </a:t>
                      </a:r>
                      <a:r>
                        <a:rPr lang="ko-KR" altLang="en-US" sz="1400"/>
                        <a:t>편차 맵</a:t>
                      </a:r>
                      <a:r>
                        <a:rPr lang="en-US" altLang="ko-KR" sz="1400"/>
                        <a:t>, 2D </a:t>
                      </a:r>
                      <a:r>
                        <a:rPr lang="ko-KR" altLang="en-US" sz="1400"/>
                        <a:t>영상 </a:t>
                      </a:r>
                      <a:r>
                        <a:rPr lang="en-US" altLang="ko-KR" sz="1400"/>
                        <a:t>(OpenCV)</a:t>
                      </a:r>
                      <a:endParaRPr lang="ko-KR" altLang="en-US" sz="14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점군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카메라 영상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420405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94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D22B7-A11C-483E-AC0B-5F722F33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화면 </a:t>
            </a:r>
            <a:r>
              <a:rPr lang="en-US" altLang="ko-KR" sz="3200" b="1"/>
              <a:t>v1 </a:t>
            </a:r>
            <a:r>
              <a:rPr lang="ko-KR" altLang="en-US" sz="3200" b="1"/>
              <a:t>과 </a:t>
            </a:r>
            <a:r>
              <a:rPr lang="en-US" altLang="ko-KR" sz="3200" b="1"/>
              <a:t>v2</a:t>
            </a:r>
            <a:endParaRPr lang="ko-KR" altLang="en-US" sz="3200" b="1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7CDE92C-7BA2-4553-9585-3ACF6E8C7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031635"/>
              </p:ext>
            </p:extLst>
          </p:nvPr>
        </p:nvGraphicFramePr>
        <p:xfrm>
          <a:off x="548640" y="1371600"/>
          <a:ext cx="11091672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68715896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512355504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3729697598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항목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v1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v2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744762077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폴더 </a:t>
                      </a:r>
                      <a:r>
                        <a:rPr lang="en-US" altLang="ko-KR" sz="1500"/>
                        <a:t>/ </a:t>
                      </a:r>
                      <a:r>
                        <a:rPr lang="ko-KR" altLang="en-US" sz="1500"/>
                        <a:t>주소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web/  ·  /v1/ (</a:t>
                      </a:r>
                      <a:r>
                        <a:rPr lang="ko-KR" altLang="en-US" sz="1500"/>
                        <a:t>기존 </a:t>
                      </a:r>
                      <a:r>
                        <a:rPr lang="en-US" altLang="ko-KR" sz="1500"/>
                        <a:t>/)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web2/  ·  /v2/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03468825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화면 코드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직접 작성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약 </a:t>
                      </a:r>
                      <a:r>
                        <a:rPr lang="en-US" altLang="ko-KR" sz="1500"/>
                        <a:t>1,300</a:t>
                      </a:r>
                      <a:r>
                        <a:rPr lang="ko-KR" altLang="en-US" sz="1500"/>
                        <a:t>줄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원본 코드 </a:t>
                      </a:r>
                      <a:r>
                        <a:rPr lang="en-US" altLang="ko-KR" sz="1500"/>
                        <a:t>884</a:t>
                      </a:r>
                      <a:r>
                        <a:rPr lang="ko-KR" altLang="en-US" sz="1500"/>
                        <a:t>줄 </a:t>
                      </a:r>
                      <a:r>
                        <a:rPr lang="en-US" altLang="ko-KR" sz="1500"/>
                        <a:t>+ </a:t>
                      </a:r>
                      <a:r>
                        <a:rPr lang="ko-KR" altLang="en-US" sz="1500"/>
                        <a:t>연결부 </a:t>
                      </a:r>
                      <a:r>
                        <a:rPr lang="en-US" altLang="ko-KR" sz="1500"/>
                        <a:t>141</a:t>
                      </a:r>
                      <a:r>
                        <a:rPr lang="ko-KR" altLang="en-US" sz="1500"/>
                        <a:t>줄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879573389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three.js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0.160 (ES </a:t>
                      </a:r>
                      <a:r>
                        <a:rPr lang="ko-KR" altLang="en-US" sz="1500"/>
                        <a:t>모듈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r128 (</a:t>
                      </a:r>
                      <a:r>
                        <a:rPr lang="ko-KR" altLang="en-US" sz="1500"/>
                        <a:t>원본과 동일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73863446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원본과의 일치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일부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단순화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사실상 동일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대조 검증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523447728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수정 방식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직접 수정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원본에서 재생성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고친 곳 </a:t>
                      </a:r>
                      <a:r>
                        <a:rPr lang="en-US" altLang="ko-KR" sz="1500"/>
                        <a:t>3</a:t>
                      </a:r>
                      <a:r>
                        <a:rPr lang="ko-KR" altLang="en-US" sz="1500"/>
                        <a:t>곳 </a:t>
                      </a:r>
                      <a:r>
                        <a:rPr lang="en-US" altLang="ko-KR" sz="1500"/>
                        <a:t>[py] </a:t>
                      </a:r>
                      <a:r>
                        <a:rPr lang="ko-KR" altLang="en-US" sz="1500"/>
                        <a:t>표시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0147353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단일 </a:t>
                      </a:r>
                      <a:r>
                        <a:rPr lang="en-US" altLang="ko-KR" sz="1500"/>
                        <a:t>HTML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WP5_InspectionDT_py_v1.html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WP5_InspectionDT_py_v2.html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89155209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성격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유지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직접 작성 버전</a:t>
                      </a:r>
                      <a:r>
                        <a:rPr lang="en-US" altLang="ko-KR" sz="1500"/>
                        <a:t>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배포 권장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842494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95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0BFC8-9DBF-4A75-8E91-0CEA76EB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원본 대비 검증 결과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0BF7936-2AB7-4FBA-A6F0-3B4E076575EC}"/>
              </a:ext>
            </a:extLst>
          </p:cNvPr>
          <p:cNvSpPr/>
          <p:nvPr/>
        </p:nvSpPr>
        <p:spPr>
          <a:xfrm>
            <a:off x="548640" y="1737360"/>
            <a:ext cx="2606040" cy="3017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3400" b="1"/>
              <a:t>288 / 288</a:t>
            </a:r>
          </a:p>
          <a:p>
            <a:pPr algn="ctr"/>
            <a:r>
              <a:rPr lang="ko-KR" altLang="en-US" sz="1400"/>
              <a:t>탭 글자 내용 일치</a:t>
            </a:r>
          </a:p>
          <a:p>
            <a:pPr algn="ctr"/>
            <a:r>
              <a:rPr lang="en-US" altLang="ko-KR" sz="1400"/>
              <a:t>(</a:t>
            </a:r>
            <a:r>
              <a:rPr lang="ko-KR" altLang="en-US" sz="1400"/>
              <a:t>시나리오 </a:t>
            </a:r>
            <a:r>
              <a:rPr lang="en-US" altLang="ko-KR" sz="1400"/>
              <a:t>3 × </a:t>
            </a:r>
            <a:r>
              <a:rPr lang="ko-KR" altLang="en-US" sz="1400"/>
              <a:t>탭 </a:t>
            </a:r>
            <a:r>
              <a:rPr lang="en-US" altLang="ko-KR" sz="1400"/>
              <a:t>9)</a:t>
            </a:r>
            <a:endParaRPr lang="ko-KR" altLang="en-US" sz="14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17CF92F-D90C-48C1-8ACF-F63A5384BB8D}"/>
              </a:ext>
            </a:extLst>
          </p:cNvPr>
          <p:cNvSpPr/>
          <p:nvPr/>
        </p:nvSpPr>
        <p:spPr>
          <a:xfrm>
            <a:off x="3376879" y="1737360"/>
            <a:ext cx="2606040" cy="3017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3400" b="1"/>
              <a:t>14,103</a:t>
            </a:r>
            <a:r>
              <a:rPr lang="ko-KR" altLang="en-US" sz="3400" b="1"/>
              <a:t>개</a:t>
            </a:r>
          </a:p>
          <a:p>
            <a:pPr algn="ctr"/>
            <a:r>
              <a:rPr lang="ko-KR" altLang="en-US" sz="1400"/>
              <a:t>로봇 경로 값 비교</a:t>
            </a:r>
          </a:p>
          <a:p>
            <a:pPr algn="ctr"/>
            <a:r>
              <a:rPr lang="ko-KR" altLang="en-US" sz="1400"/>
              <a:t>최대 차이 </a:t>
            </a:r>
            <a:r>
              <a:rPr lang="en-US" altLang="ko-KR" sz="1400"/>
              <a:t>1.4e-11</a:t>
            </a:r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AB31D80-C2CC-4373-8E1C-D8CD06E7F81B}"/>
              </a:ext>
            </a:extLst>
          </p:cNvPr>
          <p:cNvSpPr/>
          <p:nvPr/>
        </p:nvSpPr>
        <p:spPr>
          <a:xfrm>
            <a:off x="6205119" y="1737360"/>
            <a:ext cx="2606039" cy="3017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3400" b="1"/>
              <a:t>224 / 226</a:t>
            </a:r>
          </a:p>
          <a:p>
            <a:pPr algn="ctr"/>
            <a:r>
              <a:rPr lang="en-US" altLang="ko-KR" sz="1400"/>
              <a:t>2D </a:t>
            </a:r>
            <a:r>
              <a:rPr lang="ko-KR" altLang="en-US" sz="1400"/>
              <a:t>그림 픽셀 일치</a:t>
            </a:r>
          </a:p>
          <a:p>
            <a:pPr algn="ctr"/>
            <a:r>
              <a:rPr lang="en-US" altLang="ko-KR" sz="1400"/>
              <a:t>(2</a:t>
            </a:r>
            <a:r>
              <a:rPr lang="ko-KR" altLang="en-US" sz="1400"/>
              <a:t>개는 글자 가장자리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59D46FF-D90B-439F-A20A-528B0B9D9F73}"/>
              </a:ext>
            </a:extLst>
          </p:cNvPr>
          <p:cNvSpPr/>
          <p:nvPr/>
        </p:nvSpPr>
        <p:spPr>
          <a:xfrm>
            <a:off x="9033358" y="1737360"/>
            <a:ext cx="2606040" cy="3017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3400" b="1"/>
              <a:t>135 / 135</a:t>
            </a:r>
          </a:p>
          <a:p>
            <a:pPr algn="ctr"/>
            <a:r>
              <a:rPr lang="ko-KR" altLang="en-US" sz="1400"/>
              <a:t>내보낸 </a:t>
            </a:r>
            <a:r>
              <a:rPr lang="en-US" altLang="ko-KR" sz="1400"/>
              <a:t>HTML = </a:t>
            </a:r>
            <a:r>
              <a:rPr lang="ko-KR" altLang="en-US" sz="1400"/>
              <a:t>서버</a:t>
            </a:r>
          </a:p>
          <a:p>
            <a:pPr algn="ctr"/>
            <a:r>
              <a:rPr lang="ko-KR" altLang="en-US" sz="1400"/>
              <a:t>내용 일치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E5B5A-979D-44F7-A4DF-1551534E26A6}"/>
              </a:ext>
            </a:extLst>
          </p:cNvPr>
          <p:cNvSpPr txBox="1"/>
          <p:nvPr/>
        </p:nvSpPr>
        <p:spPr>
          <a:xfrm>
            <a:off x="548640" y="5120640"/>
            <a:ext cx="11091672" cy="5745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400"/>
              <a:t>대조 방식</a:t>
            </a:r>
            <a:r>
              <a:rPr lang="en-US" altLang="ko-KR" sz="1400"/>
              <a:t>: </a:t>
            </a:r>
            <a:r>
              <a:rPr lang="ko-KR" altLang="en-US" sz="1400"/>
              <a:t>브라우저에서 원본 코드를 직접 실행해 같은 시나리오</a:t>
            </a:r>
            <a:r>
              <a:rPr lang="en-US" altLang="ko-KR" sz="1400"/>
              <a:t>·</a:t>
            </a:r>
            <a:r>
              <a:rPr lang="ko-KR" altLang="en-US" sz="1400"/>
              <a:t>시각</a:t>
            </a:r>
            <a:r>
              <a:rPr lang="en-US" altLang="ko-KR" sz="1400"/>
              <a:t>·</a:t>
            </a:r>
            <a:r>
              <a:rPr lang="ko-KR" altLang="en-US" sz="1400"/>
              <a:t>탭에서 비교</a:t>
            </a:r>
          </a:p>
          <a:p>
            <a:pPr>
              <a:spcAft>
                <a:spcPts val="400"/>
              </a:spcAft>
            </a:pPr>
            <a:r>
              <a:rPr lang="en-US" altLang="ko-KR" sz="1400"/>
              <a:t>3D </a:t>
            </a:r>
            <a:r>
              <a:rPr lang="ko-KR" altLang="en-US" sz="1400"/>
              <a:t>장면 </a:t>
            </a:r>
            <a:r>
              <a:rPr lang="en-US" altLang="ko-KR" sz="1400"/>
              <a:t>60</a:t>
            </a:r>
            <a:r>
              <a:rPr lang="ko-KR" altLang="en-US" sz="1400"/>
              <a:t>건 중 </a:t>
            </a:r>
            <a:r>
              <a:rPr lang="en-US" altLang="ko-KR" sz="1400"/>
              <a:t>51</a:t>
            </a:r>
            <a:r>
              <a:rPr lang="ko-KR" altLang="en-US" sz="1400"/>
              <a:t>건 일치 </a:t>
            </a:r>
            <a:r>
              <a:rPr lang="en-US" altLang="ko-KR" sz="1400"/>
              <a:t>— </a:t>
            </a:r>
            <a:r>
              <a:rPr lang="ko-KR" altLang="en-US" sz="1400"/>
              <a:t>나머지는 시계 기반 움직임이라 원본도 자기 자신과 같은 정도로 달라짐</a:t>
            </a:r>
          </a:p>
        </p:txBody>
      </p:sp>
    </p:spTree>
    <p:extLst>
      <p:ext uri="{BB962C8B-B14F-4D97-AF65-F5344CB8AC3E}">
        <p14:creationId xmlns:p14="http://schemas.microsoft.com/office/powerpoint/2010/main" val="860753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D982B-B897-47A0-A41E-5AAFDB70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배포 시 남길 파일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294B248-5493-412B-99A5-3597FB75A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145902"/>
              </p:ext>
            </p:extLst>
          </p:nvPr>
        </p:nvGraphicFramePr>
        <p:xfrm>
          <a:off x="548640" y="137160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05602173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687553423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101239731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구분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파일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비고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345563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필수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export/WP5_InspectionDT_py_v2.html (</a:t>
                      </a:r>
                      <a:r>
                        <a:rPr lang="ko-KR" altLang="en-US" sz="1500"/>
                        <a:t>또는 </a:t>
                      </a:r>
                      <a:r>
                        <a:rPr lang="en-US" altLang="ko-KR" sz="1500"/>
                        <a:t>v1)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더블클릭으로 실행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66488261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권장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licenses/LICENSE_three.js.txt, LICENSE_Pretendard.txt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재배포 조건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97069456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선택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Run_DT_v2.bat, </a:t>
                      </a:r>
                      <a:r>
                        <a:rPr lang="ko-KR" altLang="en-US" sz="1500"/>
                        <a:t>사용 안내 한 장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없어도 실행됨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871061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제외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/>
                        <a:t>server/ tools/ web/ web2/ dt/ requirements.txt</a:t>
                      </a:r>
                      <a:endParaRPr lang="ko-KR" altLang="en-US" sz="15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/>
                        <a:t>개발용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1885889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CEBAAF-290A-4B32-8DCD-0FD1EA691600}"/>
              </a:ext>
            </a:extLst>
          </p:cNvPr>
          <p:cNvSpPr txBox="1"/>
          <p:nvPr/>
        </p:nvSpPr>
        <p:spPr>
          <a:xfrm>
            <a:off x="548640" y="4846320"/>
            <a:ext cx="11091672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sz="1500" b="1"/>
              <a:t>전달 전 확인</a:t>
            </a:r>
          </a:p>
          <a:p>
            <a:pPr>
              <a:spcAft>
                <a:spcPts val="400"/>
              </a:spcAft>
            </a:pPr>
            <a:r>
              <a:rPr lang="en-US" altLang="ko-KR" sz="1500"/>
              <a:t>- </a:t>
            </a:r>
            <a:r>
              <a:rPr lang="ko-KR" altLang="en-US" sz="1500"/>
              <a:t>파일 안에 시나리오 수치와 장비</a:t>
            </a:r>
            <a:r>
              <a:rPr lang="en-US" altLang="ko-KR" sz="1500"/>
              <a:t>·</a:t>
            </a:r>
            <a:r>
              <a:rPr lang="ko-KR" altLang="en-US" sz="1500"/>
              <a:t>업체명이 들어 있음 → 소속 기관 보안 기준 확인</a:t>
            </a:r>
          </a:p>
          <a:p>
            <a:pPr>
              <a:spcAft>
                <a:spcPts val="400"/>
              </a:spcAft>
            </a:pPr>
            <a:r>
              <a:rPr lang="en-US" altLang="ko-KR" sz="1500"/>
              <a:t>- </a:t>
            </a:r>
            <a:r>
              <a:rPr lang="ko-KR" altLang="en-US" sz="1500"/>
              <a:t>모든 값은 가상 데이터 → 전달 메시지에 한 줄 표기</a:t>
            </a:r>
          </a:p>
          <a:p>
            <a:pPr>
              <a:spcAft>
                <a:spcPts val="400"/>
              </a:spcAft>
            </a:pPr>
            <a:r>
              <a:rPr lang="en-US" altLang="ko-KR" sz="1500"/>
              <a:t>- </a:t>
            </a:r>
            <a:r>
              <a:rPr lang="ko-KR" altLang="en-US" sz="1500"/>
              <a:t>코드를 고친 뒤에는 </a:t>
            </a:r>
            <a:r>
              <a:rPr lang="en-US" altLang="ko-KR" sz="1500"/>
              <a:t>python tools/export_html.py </a:t>
            </a:r>
            <a:r>
              <a:rPr lang="ko-KR" altLang="en-US" sz="1500"/>
              <a:t>로 다시 내보내기</a:t>
            </a:r>
          </a:p>
        </p:txBody>
      </p:sp>
    </p:spTree>
    <p:extLst>
      <p:ext uri="{BB962C8B-B14F-4D97-AF65-F5344CB8AC3E}">
        <p14:creationId xmlns:p14="http://schemas.microsoft.com/office/powerpoint/2010/main" val="348100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60F5C-7041-43CE-8077-8236A129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정리하며 눈에 띈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116CB7-3C1D-44AE-87B5-C960ADF5D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11091672" cy="475488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ko-KR" altLang="en-US" sz="2000"/>
              <a:t>미사용 코드가 남아 있음</a:t>
            </a:r>
            <a:r>
              <a:rPr lang="en-US" altLang="ko-KR" sz="2000"/>
              <a:t>: </a:t>
            </a:r>
            <a:r>
              <a:rPr lang="ko-KR" altLang="en-US" sz="2000"/>
              <a:t>첫 골격</a:t>
            </a:r>
            <a:r>
              <a:rPr lang="en-US" altLang="ko-KR" sz="2000"/>
              <a:t>(sources.py, /ws, scenario1.json, docking.py, kinematics.py)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센서 연동 연결 지점이 불분명</a:t>
            </a:r>
            <a:r>
              <a:rPr lang="en-US" altLang="ko-KR" sz="2000"/>
              <a:t>: </a:t>
            </a:r>
            <a:r>
              <a:rPr lang="ko-KR" altLang="en-US" sz="2000"/>
              <a:t>화면은 시나리오 전체를 한 번에 받는데</a:t>
            </a:r>
            <a:r>
              <a:rPr lang="en-US" altLang="ko-KR" sz="2000"/>
              <a:t>, SensorSource</a:t>
            </a:r>
            <a:r>
              <a:rPr lang="ko-KR" altLang="en-US" sz="2000"/>
              <a:t>는 시각별 상태 구조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같은 계산이 파이썬과 </a:t>
            </a:r>
            <a:r>
              <a:rPr lang="en-US" altLang="ko-KR" sz="2000"/>
              <a:t>JS</a:t>
            </a:r>
            <a:r>
              <a:rPr lang="ko-KR" altLang="en-US" sz="2000"/>
              <a:t>에 중복</a:t>
            </a:r>
            <a:r>
              <a:rPr lang="en-US" altLang="ko-KR" sz="2000"/>
              <a:t>: adapter.js</a:t>
            </a:r>
            <a:r>
              <a:rPr lang="ko-KR" altLang="en-US" sz="2000"/>
              <a:t>의 </a:t>
            </a:r>
            <a:r>
              <a:rPr lang="en-US" altLang="ko-KR" sz="2000"/>
              <a:t>fk · makeCtx · topZ ↔ kin.py · geom.py</a:t>
            </a:r>
          </a:p>
          <a:p>
            <a:pPr>
              <a:spcAft>
                <a:spcPts val="800"/>
              </a:spcAft>
            </a:pPr>
            <a:r>
              <a:rPr lang="en-US" altLang="ko-KR" sz="2000"/>
              <a:t>v1</a:t>
            </a:r>
            <a:r>
              <a:rPr lang="ko-KR" altLang="en-US" sz="2000"/>
              <a:t>과 </a:t>
            </a:r>
            <a:r>
              <a:rPr lang="en-US" altLang="ko-KR" sz="2000"/>
              <a:t>v2</a:t>
            </a:r>
            <a:r>
              <a:rPr lang="ko-KR" altLang="en-US" sz="2000"/>
              <a:t>가 화면 코드를 공유하지 않음</a:t>
            </a:r>
            <a:r>
              <a:rPr lang="en-US" altLang="ko-KR" sz="2000"/>
              <a:t>: </a:t>
            </a:r>
            <a:r>
              <a:rPr lang="ko-KR" altLang="en-US" sz="2000"/>
              <a:t>기능 수정 시 두 번 고쳐야 함</a:t>
            </a:r>
          </a:p>
          <a:p>
            <a:pPr>
              <a:spcAft>
                <a:spcPts val="800"/>
              </a:spcAft>
            </a:pPr>
            <a:r>
              <a:rPr lang="ko-KR" altLang="en-US" sz="2000"/>
              <a:t>검증은 원본 대비 일치 여부</a:t>
            </a:r>
            <a:r>
              <a:rPr lang="en-US" altLang="ko-KR" sz="2000"/>
              <a:t>: </a:t>
            </a:r>
            <a:r>
              <a:rPr lang="ko-KR" altLang="en-US" sz="2000"/>
              <a:t>원본</a:t>
            </a:r>
            <a:r>
              <a:rPr lang="en-US" altLang="ko-KR" sz="2000"/>
              <a:t>(</a:t>
            </a:r>
            <a:r>
              <a:rPr lang="ko-KR" altLang="en-US" sz="2000"/>
              <a:t>가상 데이터</a:t>
            </a:r>
            <a:r>
              <a:rPr lang="en-US" altLang="ko-KR" sz="2000"/>
              <a:t>, </a:t>
            </a:r>
            <a:r>
              <a:rPr lang="ko-KR" altLang="en-US" sz="2000"/>
              <a:t>근사 로봇</a:t>
            </a:r>
            <a:r>
              <a:rPr lang="en-US" altLang="ko-KR" sz="2000"/>
              <a:t>) </a:t>
            </a:r>
            <a:r>
              <a:rPr lang="ko-KR" altLang="en-US" sz="2000"/>
              <a:t>자체의 타당성은 별개</a:t>
            </a:r>
          </a:p>
        </p:txBody>
      </p:sp>
    </p:spTree>
    <p:extLst>
      <p:ext uri="{BB962C8B-B14F-4D97-AF65-F5344CB8AC3E}">
        <p14:creationId xmlns:p14="http://schemas.microsoft.com/office/powerpoint/2010/main" val="346906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B4FB-0960-47FD-BFB1-BCA0478C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68680"/>
          </a:xfrm>
        </p:spPr>
        <p:txBody>
          <a:bodyPr anchor="ctr">
            <a:normAutofit/>
          </a:bodyPr>
          <a:lstStyle/>
          <a:p>
            <a:r>
              <a:rPr lang="ko-KR" altLang="en-US" sz="3200" b="1"/>
              <a:t>구성요소별 분석 순서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3625629-C6EF-45AA-8231-E87B56F3C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20617"/>
              </p:ext>
            </p:extLst>
          </p:nvPr>
        </p:nvGraphicFramePr>
        <p:xfrm>
          <a:off x="548640" y="1371600"/>
          <a:ext cx="1109167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79486663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963802715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977652789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순서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대상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확인할 내용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38735003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①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계산 모듈 </a:t>
                      </a:r>
                      <a:r>
                        <a:rPr lang="en-US" altLang="ko-KR" sz="1600"/>
                        <a:t>(server/sim/)</a:t>
                      </a:r>
                      <a:endParaRPr lang="ko-KR" altLang="en-US" sz="16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파일별 입력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출력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핵심 식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실제 장비로 바꿀 교체 지점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3331467099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②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데이터 조립</a:t>
                      </a:r>
                      <a:r>
                        <a:rPr lang="en-US" altLang="ko-KR" sz="1600"/>
                        <a:t>·API (payloads.py, main.py)</a:t>
                      </a:r>
                      <a:endParaRPr lang="ko-KR" altLang="en-US" sz="16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화면과 맺는 데이터 약속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스키마</a:t>
                      </a:r>
                      <a:r>
                        <a:rPr lang="en-US" altLang="ko-KR" sz="1600"/>
                        <a:t>)</a:t>
                      </a:r>
                      <a:endParaRPr lang="ko-KR" altLang="en-US" sz="1600"/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31001438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③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v2 </a:t>
                      </a:r>
                      <a:r>
                        <a:rPr lang="ko-KR" altLang="en-US" sz="1600"/>
                        <a:t>연결부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화면 </a:t>
                      </a:r>
                      <a:r>
                        <a:rPr lang="en-US" altLang="ko-KR" sz="1600"/>
                        <a:t>(adapter.js, ui.js)</a:t>
                      </a:r>
                      <a:endParaRPr lang="ko-KR" altLang="en-US" sz="16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원본 코드가 구동되는 방식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고친 </a:t>
                      </a:r>
                      <a:r>
                        <a:rPr lang="en-US" altLang="ko-KR" sz="1600"/>
                        <a:t>3</a:t>
                      </a:r>
                      <a:r>
                        <a:rPr lang="ko-KR" altLang="en-US" sz="1600"/>
                        <a:t>곳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871257347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④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도구</a:t>
                      </a:r>
                      <a:r>
                        <a:rPr lang="en-US" altLang="ko-KR" sz="1600"/>
                        <a:t>·</a:t>
                      </a:r>
                      <a:r>
                        <a:rPr lang="ko-KR" altLang="en-US" sz="1600"/>
                        <a:t>내보내기 </a:t>
                      </a:r>
                      <a:r>
                        <a:rPr lang="en-US" altLang="ko-KR" sz="1600"/>
                        <a:t>(tools/)</a:t>
                      </a:r>
                      <a:endParaRPr lang="ko-KR" altLang="en-US" sz="16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재생성과 배포 절차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110516342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⑤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v1 </a:t>
                      </a:r>
                      <a:r>
                        <a:rPr lang="ko-KR" altLang="en-US" sz="1600"/>
                        <a:t>화면 </a:t>
                      </a:r>
                      <a:r>
                        <a:rPr lang="en-US" altLang="ko-KR" sz="1600"/>
                        <a:t>(web/)</a:t>
                      </a:r>
                      <a:endParaRPr lang="ko-KR" altLang="en-US" sz="1600"/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/>
                        <a:t>v2</a:t>
                      </a:r>
                      <a:r>
                        <a:rPr lang="ko-KR" altLang="en-US" sz="1600"/>
                        <a:t>와의 차이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유지할 가치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245432551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⑥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미사용 코드</a:t>
                      </a:r>
                    </a:p>
                  </a:txBody>
                  <a:tcPr marL="88900" marR="88900" marT="38100" marB="381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정리할지</a:t>
                      </a:r>
                      <a:r>
                        <a:rPr lang="en-US" altLang="ko-KR" sz="1600"/>
                        <a:t>, </a:t>
                      </a:r>
                      <a:r>
                        <a:rPr lang="ko-KR" altLang="en-US" sz="1600"/>
                        <a:t>센서 연동용으로 재설계할지</a:t>
                      </a:r>
                    </a:p>
                  </a:txBody>
                  <a:tcPr marL="88900" marR="88900" marT="38100" marB="38100" anchor="ctr"/>
                </a:tc>
                <a:extLst>
                  <a:ext uri="{0D108BD9-81ED-4DB2-BD59-A6C34878D82A}">
                    <a16:rowId xmlns:a16="http://schemas.microsoft.com/office/drawing/2014/main" val="42068768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2F3C72E-5F9E-47E2-86BA-2886EDBD8C2D}"/>
              </a:ext>
            </a:extLst>
          </p:cNvPr>
          <p:cNvSpPr txBox="1"/>
          <p:nvPr/>
        </p:nvSpPr>
        <p:spPr>
          <a:xfrm>
            <a:off x="548640" y="5852160"/>
            <a:ext cx="1109167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/>
              <a:t>다음</a:t>
            </a:r>
            <a:r>
              <a:rPr lang="en-US" altLang="ko-KR" b="1"/>
              <a:t>: ① </a:t>
            </a:r>
            <a:r>
              <a:rPr lang="ko-KR" altLang="en-US" b="1"/>
              <a:t>계산 모듈부터 파일별로 상세 정리</a:t>
            </a:r>
          </a:p>
        </p:txBody>
      </p:sp>
    </p:spTree>
    <p:extLst>
      <p:ext uri="{BB962C8B-B14F-4D97-AF65-F5344CB8AC3E}">
        <p14:creationId xmlns:p14="http://schemas.microsoft.com/office/powerpoint/2010/main" val="338313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사용자 지정</PresentationFormat>
  <Paragraphs>241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WP5 검사셀 디지털 트윈 모사</vt:lpstr>
      <vt:lpstr>프로젝트 개요</vt:lpstr>
      <vt:lpstr>전체 흐름</vt:lpstr>
      <vt:lpstr>진행 단계 (커밋 14개)</vt:lpstr>
      <vt:lpstr>구성요소 목록</vt:lpstr>
      <vt:lpstr>시나리오 하나가 화면에 나오기까지</vt:lpstr>
      <vt:lpstr>계산 모듈 (server/sim) — 무엇을 계산하고, 어디를 교체하나</vt:lpstr>
      <vt:lpstr>화면 v1 과 v2</vt:lpstr>
      <vt:lpstr>원본 대비 검증 결과</vt:lpstr>
      <vt:lpstr>배포 시 남길 파일</vt:lpstr>
      <vt:lpstr>정리하며 눈에 띈 점</vt:lpstr>
      <vt:lpstr>구성요소별 분석 순서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WP5 검사셀 디지털 트윈 모사</dc:title>
  <dc:creator>ser u</dc:creator>
  <cp:lastModifiedBy>ser u</cp:lastModifiedBy>
  <cp:revision>1</cp:revision>
  <dcterms:created xsi:type="dcterms:W3CDTF">2026-10-22T08:53:54Z</dcterms:created>
  <dcterms:modified xsi:type="dcterms:W3CDTF">2026-10-22T08:53:54Z</dcterms:modified>
</cp:coreProperties>
</file>